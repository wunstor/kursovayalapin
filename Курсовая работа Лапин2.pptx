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74" r:id="rId5"/>
    <p:sldId id="275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5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54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0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19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3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10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15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4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52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66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72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10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BCC5743-95E3-4109-84A0-E3FECA9CE59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7527D56-2C6D-4F06-A4CE-D7258A26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097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0740B-FE77-12A0-AC25-1DC5D47EC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7918"/>
            <a:ext cx="8814955" cy="2502045"/>
          </a:xfrm>
        </p:spPr>
        <p:txBody>
          <a:bodyPr>
            <a:normAutofit/>
          </a:bodyPr>
          <a:lstStyle/>
          <a:p>
            <a:r>
              <a:rPr lang="ru-RU" sz="4000" dirty="0"/>
              <a:t>Курсовой проект</a:t>
            </a:r>
            <a:br>
              <a:rPr lang="ru-RU" sz="4000" dirty="0"/>
            </a:br>
            <a:r>
              <a:rPr lang="ru-RU" sz="4000" dirty="0"/>
              <a:t>на тему «Проектирование ИС «Магазин оптики»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1DF457-236D-FD33-50BD-0897853B7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55027" y="3788474"/>
            <a:ext cx="11121736" cy="2737089"/>
          </a:xfrm>
        </p:spPr>
        <p:txBody>
          <a:bodyPr>
            <a:normAutofit/>
          </a:bodyPr>
          <a:lstStyle/>
          <a:p>
            <a:pPr algn="l"/>
            <a:r>
              <a:rPr lang="ru-RU" sz="1700" dirty="0"/>
              <a:t>Выполнил: Лапин В. И.</a:t>
            </a:r>
          </a:p>
          <a:p>
            <a:pPr algn="l"/>
            <a:r>
              <a:rPr lang="ru-RU" sz="1700" dirty="0"/>
              <a:t>Студент 1 курса</a:t>
            </a:r>
          </a:p>
          <a:p>
            <a:pPr algn="l"/>
            <a:r>
              <a:rPr lang="ru-RU" sz="1700" dirty="0"/>
              <a:t>Очной формы обучения</a:t>
            </a:r>
          </a:p>
          <a:p>
            <a:pPr algn="l"/>
            <a:r>
              <a:rPr lang="ru-RU" sz="1700" dirty="0"/>
              <a:t>Группы-ИСиП-25-11-1 </a:t>
            </a:r>
          </a:p>
          <a:p>
            <a:pPr algn="l"/>
            <a:r>
              <a:rPr lang="ru-RU" sz="1700" dirty="0"/>
              <a:t>Проверил: Гончарова Т.В.</a:t>
            </a:r>
          </a:p>
          <a:p>
            <a:pPr algn="l"/>
            <a:r>
              <a:rPr lang="ru-RU" sz="1700" dirty="0"/>
              <a:t>Должность: преподаватель</a:t>
            </a:r>
          </a:p>
          <a:p>
            <a:pPr algn="l"/>
            <a:r>
              <a:rPr lang="ru-RU" sz="1700" dirty="0"/>
              <a:t>Проф. Дисциплин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60D2BA3-26BB-3D1B-4037-F471562850EE}"/>
              </a:ext>
            </a:extLst>
          </p:cNvPr>
          <p:cNvSpPr txBox="1">
            <a:spLocks/>
          </p:cNvSpPr>
          <p:nvPr/>
        </p:nvSpPr>
        <p:spPr>
          <a:xfrm>
            <a:off x="793173" y="332437"/>
            <a:ext cx="1112173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ДЕПАРТАМЕНТ ОБРАЗОВАНИЯ И НАУКИ ТЮМЕНСКОЙ ОБЛАСТИ</a:t>
            </a:r>
          </a:p>
          <a:p>
            <a:r>
              <a:rPr lang="ru-RU" sz="1800" dirty="0"/>
              <a:t>Государственное автономное профессиональное учреждение Тюменской области</a:t>
            </a:r>
          </a:p>
          <a:p>
            <a:r>
              <a:rPr lang="ru-RU" sz="1800" dirty="0"/>
              <a:t>«ТЮМЕНСКИЙ ТЕХНИКУМ СТРОИТЕЛЬНОЙ ИНДУСТРИИ И ГОРОДСКОГО ХОЗЯЙСТВА»</a:t>
            </a:r>
          </a:p>
          <a:p>
            <a:endParaRPr lang="ru-RU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EDF8E1D8-E186-4573-2E3A-114D786967C6}"/>
              </a:ext>
            </a:extLst>
          </p:cNvPr>
          <p:cNvSpPr txBox="1">
            <a:spLocks/>
          </p:cNvSpPr>
          <p:nvPr/>
        </p:nvSpPr>
        <p:spPr>
          <a:xfrm>
            <a:off x="5422104" y="6525563"/>
            <a:ext cx="1863873" cy="2831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700" dirty="0"/>
              <a:t>г. Тюмень 2026г.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685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12C7E-30B8-2CB2-9C29-4FD71340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1C0B94-C700-7ACE-7E2D-96D23CF1E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1690688"/>
            <a:ext cx="9367685" cy="4191717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Актуальность </a:t>
            </a:r>
            <a:r>
              <a:rPr lang="ru-RU" dirty="0"/>
              <a:t>данной темы обусловлена необходимостью разработки эффективных информационных систем, способных обеспечить надежную и удобную работу интернет-магазина оптики.</a:t>
            </a:r>
          </a:p>
          <a:p>
            <a:r>
              <a:rPr lang="ru-RU" b="1" dirty="0"/>
              <a:t>Целью</a:t>
            </a:r>
            <a:r>
              <a:rPr lang="ru-RU" dirty="0"/>
              <a:t> данного курсового проекта является разработка модели информационной системы интернет-магазина оптики, обеспечивающей автоматизацию процессов продажи и управления товарами. </a:t>
            </a:r>
          </a:p>
          <a:p>
            <a:r>
              <a:rPr lang="ru-RU" b="1" dirty="0"/>
              <a:t>Объект </a:t>
            </a:r>
            <a:r>
              <a:rPr lang="ru-RU" dirty="0"/>
              <a:t>—процесс функционирования интернет-магазина оптики</a:t>
            </a:r>
          </a:p>
          <a:p>
            <a:r>
              <a:rPr lang="ru-RU" b="1" dirty="0"/>
              <a:t>Предмет</a:t>
            </a:r>
            <a:r>
              <a:rPr lang="ru-RU" dirty="0"/>
              <a:t> — методы и средства его автоматизации.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38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D293F-625B-5B65-7491-F2BBC3B9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AD8BE3-E102-B304-6F5E-E1E64829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Изучить особенности предметной области; </a:t>
            </a:r>
          </a:p>
          <a:p>
            <a:pPr lvl="0"/>
            <a:r>
              <a:rPr lang="ru-RU" dirty="0"/>
              <a:t>Определить основные функции системы; </a:t>
            </a:r>
          </a:p>
          <a:p>
            <a:pPr lvl="0"/>
            <a:r>
              <a:rPr lang="ru-RU" dirty="0"/>
              <a:t>Разработать диаграммы потоков данных; </a:t>
            </a:r>
          </a:p>
          <a:p>
            <a:pPr lvl="0"/>
            <a:r>
              <a:rPr lang="ru-RU" dirty="0"/>
              <a:t>Спроектировать структуру базы данных; </a:t>
            </a:r>
          </a:p>
          <a:p>
            <a:pPr lvl="0"/>
            <a:r>
              <a:rPr lang="ru-RU" dirty="0"/>
              <a:t>Описать взаимодействие пользователей с системой.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606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1279D-07CE-9947-AB69-34FFE5DF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12AF1-0BC4-BD66-2407-B47DF9C04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Интернет-магазин очков – это информационная система, предназначенная для дистанционной продажи очков для зрения и солнцезащитных очков. Он может включать в себя каталоги, корзину, систему оплаты, интеграцию со службами доставки.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547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6B17C-22C1-8B20-1815-02AF2DE7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ИС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80D97-F5AA-6F41-C0FB-8F0FED055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Формирование и поддержка каталога товаров;</a:t>
            </a:r>
          </a:p>
          <a:p>
            <a:pPr lvl="0"/>
            <a:r>
              <a:rPr lang="ru-RU" dirty="0"/>
              <a:t>Организация и проведение акций, скидок, сезонных распродаж;</a:t>
            </a:r>
          </a:p>
          <a:p>
            <a:pPr lvl="0"/>
            <a:r>
              <a:rPr lang="ru-RU" dirty="0"/>
              <a:t>Обеспечение безопасности и конфиденциальности персональных данных и платежной информации;</a:t>
            </a:r>
          </a:p>
          <a:p>
            <a:r>
              <a:rPr lang="ru-RU" dirty="0"/>
              <a:t>Продажа очков с использованием сервисов доставки </a:t>
            </a:r>
          </a:p>
        </p:txBody>
      </p:sp>
    </p:spTree>
    <p:extLst>
      <p:ext uri="{BB962C8B-B14F-4D97-AF65-F5344CB8AC3E}">
        <p14:creationId xmlns:p14="http://schemas.microsoft.com/office/powerpoint/2010/main" val="232095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B7563-23D5-2A11-32D0-D3612C6B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14703" cy="1325563"/>
          </a:xfrm>
        </p:spPr>
        <p:txBody>
          <a:bodyPr/>
          <a:lstStyle/>
          <a:p>
            <a:r>
              <a:rPr lang="ru-RU" dirty="0"/>
              <a:t>Диаграмма </a:t>
            </a:r>
            <a:r>
              <a:rPr lang="en-US" dirty="0"/>
              <a:t>IDEF0</a:t>
            </a:r>
            <a:r>
              <a:rPr lang="ru-RU" dirty="0"/>
              <a:t> (функциональная модель)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113097-0613-70C2-7C14-6A446E627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A8FD9D-70BC-5D12-809F-6E618FEB0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5" y="1343892"/>
            <a:ext cx="9006349" cy="531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5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70C11-2BC0-8542-CFEF-7981E942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107994" cy="1325563"/>
          </a:xfrm>
        </p:spPr>
        <p:txBody>
          <a:bodyPr/>
          <a:lstStyle/>
          <a:p>
            <a:r>
              <a:rPr lang="en-US" dirty="0"/>
              <a:t>DFD</a:t>
            </a:r>
            <a:r>
              <a:rPr lang="ru-RU" dirty="0"/>
              <a:t>(диаграмма потоковых данных) (0 уровня)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1B67D1-353C-C94A-EA49-9EC1DF339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81A874-0043-E533-6ABD-37448232E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13" y="1325563"/>
            <a:ext cx="9355951" cy="529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5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9170D-F9F5-37DF-B8A9-1A038BE1A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7" y="18255"/>
            <a:ext cx="11235814" cy="1325563"/>
          </a:xfrm>
        </p:spPr>
        <p:txBody>
          <a:bodyPr/>
          <a:lstStyle/>
          <a:p>
            <a:r>
              <a:rPr lang="en-US" dirty="0"/>
              <a:t>DFD</a:t>
            </a:r>
            <a:r>
              <a:rPr lang="ru-RU" dirty="0"/>
              <a:t>(Диаграмма потоковых данных)</a:t>
            </a:r>
            <a:r>
              <a:rPr lang="en-US" dirty="0"/>
              <a:t>(</a:t>
            </a:r>
            <a:r>
              <a:rPr lang="ru-RU" dirty="0"/>
              <a:t>1 уровня)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2EF5A-2B0B-2A91-10DF-8EE422BA4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242B35-2032-45F1-BF4B-D8EF972D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21" y="1070896"/>
            <a:ext cx="7883002" cy="527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0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CB107-D228-3775-3AAE-11B8B33B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</a:t>
            </a:r>
            <a:r>
              <a:rPr lang="en-US" dirty="0"/>
              <a:t>(Use Case)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3B8F5-388D-169C-5B6A-3F191B934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FD8686-3277-FE64-9BEA-6C13122C8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751" y="1461882"/>
            <a:ext cx="8724829" cy="50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3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9C75E-013F-A810-7D7D-E97CF252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19" y="188145"/>
            <a:ext cx="9869129" cy="6181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  <a:r>
              <a:rPr lang="en-US" dirty="0"/>
              <a:t> (Activity)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9E22C7-98A8-3984-830C-F9069B364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F8DAE1-322F-36ED-3D45-118013D9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95" y="681037"/>
            <a:ext cx="5208307" cy="60517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525463-A446-34DE-37B8-D3B39F537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477" y="797978"/>
            <a:ext cx="4984648" cy="606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47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D8D1C-6061-EF04-396D-9A4B2498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365125"/>
            <a:ext cx="571991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последовательности</a:t>
            </a:r>
            <a:br>
              <a:rPr lang="en-US" dirty="0"/>
            </a:br>
            <a:r>
              <a:rPr lang="en-US" dirty="0"/>
              <a:t>(Sequence)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E0BD4-4F2A-44C9-FE30-8A003B1AC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2D0E56-DA59-46D8-DE66-06A9F59A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04" y="57785"/>
            <a:ext cx="4733925" cy="68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7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2C1DA-7AC8-D245-02A7-F3951F74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3881284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классов</a:t>
            </a:r>
            <a:br>
              <a:rPr lang="en-US" dirty="0"/>
            </a:br>
            <a:r>
              <a:rPr lang="en-US" dirty="0"/>
              <a:t>(Class)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A40625-7700-D313-3468-A864020FB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03F0FA-25EF-BAB7-CB7C-7B8C3561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766" y="287020"/>
            <a:ext cx="6210300" cy="628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51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56E4C-411A-6362-FF3C-9389DB6C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4" y="-77736"/>
            <a:ext cx="10515600" cy="1325563"/>
          </a:xfrm>
        </p:spPr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4F370-DD82-EF94-5376-1FC855541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144D82-E54B-E4CB-3AA6-7A131B6CD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22" y="1050747"/>
            <a:ext cx="9613932" cy="54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89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32023-7F27-30FB-9BEF-4C45482B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1" y="-106823"/>
            <a:ext cx="10515600" cy="1325563"/>
          </a:xfrm>
        </p:spPr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3DB24-94A5-3783-B181-FB8D2105F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E92DBE-CDC4-22F1-F56F-5D4577E61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49" y="1110586"/>
            <a:ext cx="9287703" cy="543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2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3255A-2FAB-23EA-0B0E-EFE0DAF3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3" y="0"/>
            <a:ext cx="10515600" cy="1325563"/>
          </a:xfrm>
        </p:spPr>
        <p:txBody>
          <a:bodyPr/>
          <a:lstStyle/>
          <a:p>
            <a:r>
              <a:rPr lang="ru-RU" dirty="0"/>
              <a:t>Физическая модель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3191A-2F5A-FF20-F729-48CF0711C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9A78F6-150C-5BBA-2ED7-5BBDF2820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992" y="1491328"/>
            <a:ext cx="8787310" cy="44670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103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6133C-FFD3-D901-1E50-D7C6A8ED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9" y="79991"/>
            <a:ext cx="10515600" cy="834410"/>
          </a:xfrm>
        </p:spPr>
        <p:txBody>
          <a:bodyPr/>
          <a:lstStyle/>
          <a:p>
            <a:r>
              <a:rPr lang="ru-RU" dirty="0"/>
              <a:t>Запросы к базе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B20715-BA7A-63FA-55CD-EB725961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2A924D-68F5-4C0F-F5AA-1737561A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6" y="1716363"/>
            <a:ext cx="3205316" cy="41135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9A018E-9844-32C4-C86F-072E7E9E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04" y="259860"/>
            <a:ext cx="5674937" cy="27271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2053FC-49DD-23AE-30FD-BD9615697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710" y="3440409"/>
            <a:ext cx="8219854" cy="297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3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34FDC-BBC7-1FCA-20B2-00B0950A6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5" y="168480"/>
            <a:ext cx="8325465" cy="844243"/>
          </a:xfrm>
        </p:spPr>
        <p:txBody>
          <a:bodyPr/>
          <a:lstStyle/>
          <a:p>
            <a:r>
              <a:rPr lang="ru-RU" dirty="0"/>
              <a:t>Интерфейс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27999-F53C-758F-3E1C-44B971E11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9913CD-18E8-0A07-15B7-71A06E59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53" y="1825625"/>
            <a:ext cx="5291743" cy="37428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794186-E71E-447C-F787-98B8374CD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916" y="1825624"/>
            <a:ext cx="5290811" cy="374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34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F0134-9CE1-7287-3B56-01BB12E8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66B78D-D736-1F72-3ED5-4F81AF02D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5B67B2-4E99-CFB2-D64E-B3B6C3D04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44" y="1690688"/>
            <a:ext cx="6068710" cy="42002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686F7D-9209-F43A-0583-67B4AB696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84" y="1913759"/>
            <a:ext cx="5585145" cy="397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41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54C9D-2F03-AC4B-3639-A91702AF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2" y="18255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F75DF0-032D-1FDF-65FD-5149E9732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579819"/>
            <a:ext cx="10515600" cy="4351338"/>
          </a:xfrm>
        </p:spPr>
        <p:txBody>
          <a:bodyPr/>
          <a:lstStyle/>
          <a:p>
            <a:r>
              <a:rPr lang="ru-RU" dirty="0"/>
              <a:t>В заключении курсовой проект на тему «Проектирование информационной системы» можно подчеркнуть значимость внедрения современных информационных технологий для оптимизации работы оптического ритейла. Автоматизация процессов в интернет-магазине очков позволяет существенно улучшить управление каталогом, обеспечить более качественное обслуживание покупателей, повысить эффективность работы персонала, а также сократить издержки и увеличить прибыль.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845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6ADD0-4887-452E-A08B-94CE3EB3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452" y="2508557"/>
            <a:ext cx="10515600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924C4C-9D01-FC49-90AD-F1AEE2B0E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091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339</Words>
  <Application>Microsoft Office PowerPoint</Application>
  <PresentationFormat>Широкоэкранный</PresentationFormat>
  <Paragraphs>45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Курсовой проект на тему «Проектирование ИС «Магазин оптики»</vt:lpstr>
      <vt:lpstr>Введение</vt:lpstr>
      <vt:lpstr>Задачи</vt:lpstr>
      <vt:lpstr>Предметная область</vt:lpstr>
      <vt:lpstr>Функции ИС</vt:lpstr>
      <vt:lpstr>Диаграмма IDEF0 (функциональная модель)</vt:lpstr>
      <vt:lpstr>DFD(диаграмма потоковых данных) (0 уровня)</vt:lpstr>
      <vt:lpstr>DFD(Диаграмма потоковых данных)(1 уровня)</vt:lpstr>
      <vt:lpstr>Диаграмма вариантов(Use Case)</vt:lpstr>
      <vt:lpstr>Диаграмма деятельности (Activity)</vt:lpstr>
      <vt:lpstr>Диаграмма последовательности (Sequence)</vt:lpstr>
      <vt:lpstr>Диаграмма классов (Class)</vt:lpstr>
      <vt:lpstr>Концептуальная модель данных</vt:lpstr>
      <vt:lpstr>Логическая модель данных</vt:lpstr>
      <vt:lpstr>Физическая модель данных</vt:lpstr>
      <vt:lpstr>Запросы к базе данных</vt:lpstr>
      <vt:lpstr>Интерфейс сайта</vt:lpstr>
      <vt:lpstr>Презентация PowerPoint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Владимир Лапин</dc:creator>
  <cp:lastModifiedBy>Владимир Лапин</cp:lastModifiedBy>
  <cp:revision>1</cp:revision>
  <dcterms:created xsi:type="dcterms:W3CDTF">2026-05-14T04:36:53Z</dcterms:created>
  <dcterms:modified xsi:type="dcterms:W3CDTF">2026-05-14T06:07:22Z</dcterms:modified>
</cp:coreProperties>
</file>